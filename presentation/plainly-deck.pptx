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Plainly turns phrases from discharge notes and lab reports into plain English.
Live site: https://plainly-medical-explainer.kimtastico.workers.dev
Code: https://github.com/kimtastico/Applied-Agentic-Healthcare-Demo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[say your personal reason here, in your own words].
Goal, from my project brief: paste a phrase from a discharge note or lab report, like “mild bilateral pleural effusion,” and get a plain-English explanation at a 6th-grade reading level. Supabase logs only the term, not the user, building a public glossary of the most-searched phrases. Temperature 0: “Creativity is a bug for these tasks.”
Running example for the whole deck: hyponatremia (low sodium in the blood).
Source: my project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visitor pastes a phrase, here “hyponatremia.”
2. The Cloudflare Worker (the site’s server code) looks the term up in the Supabase glossary.
3. The Worker decides: if this exact term was already answered and reviewed under the current instructions, it shows that saved answer instantly, with no AI call. Otherwise the flow continues on the next slide.
Source: project code, src/worker.js (handleExplain) and README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The writer AI (Llama 3.3 70B on Cloudflare Workers AI) drafts the explanation at temperature 0, following worked examples.
5. Code checks what a computer can: reading grade, phrases that sound like causes or advice, personal details.
6. The reviewer AI (gpt-oss-120b) checks the draft against the five rules — no causes or advice, grade 6 or below, correct word roots, no personal details, care-team questions — and approves it or returns a corrected version.
7. Final check: if the reviewer rewrote the answer, the code checks run again on its version, because nobody else has checked that text. Only answers that pass are saved, so no small problem gets locked into the glossary. The next search for the term is then instant.
8. The visitor sees the answer with a badge: “Checked by reviewer AI” or “Corrected by reviewer AI.”
If the final check flags something, or the reviewer is unavailable, the answer is still shown, with a badge saying so, but it isn’t saved; the next search tries again.
Source: project code, src/pipeline.js and src/models.js; README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are open-weight: their makers publish them, and Cloudflare runs its own copies, so there is no OpenAI or Meta account and no cost beyond Cloudflare’s free daily Workers AI allowance.
Why two different makers: a reviewer from a different model family is less likely to share the writer’s blind spots, and models tend to rate their own writing too kindly. (This is our design reasoning, based on general research on AI models judging AI output; we did not run a controlled test of it.)
Writer: Llama 3.3 70B — clear plain writing, follows a fixed answer format, fast. Reviewer: gpt-oss-120b — larger, and a reasoning model that thinks through the rules before giving a verdict (set to low effort to stay quick). Both run at temperature 0.
Backups: NVIDIA’s free Nemotron 3 Ultra and Nemotron 3.5 Lightning. We started on NVIDIA, but its free trial was often overloaded and retired our first model, Llama 3.3, so the same Llama now runs on Cloudflare.
Sources: Cloudflare Workers AI model catalog (developers.cloudflare.com/workers-ai/models), read through Wrangler 4.154’s built-in Workers AI model definitions; NVIDIA API catalog (build.nvidia.com); project settings in wrangler.jsonc.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database is one Supabase table, glossary_terms. Each row is one medical term: term, search_count, explanation (the reviewed answer plus what the reviewer found, as JSON), model (which AI wrote it, e.g. @cf/meta/llama-3.3-70b-instruct-fp8-fast), prompt_version (old answers are redone when the instructions change), and two timestamps.
Row 1: a real answer from the live site (hyponatremia, reviewed by gpt-oss-120b).
Row 2: what happens with “potassium 5.8 mmol/L”: the answer may mention that number, so only the term is counted and no explanation is saved.
The search counts shown are examples, not live numbers.
Privacy: anyone can read the glossary, but only the server can write to it (row-level security), and there is no column for a user, their IP address, or the text someone typed.
Source: project code, supabase/migrations/0001_glossary.sql and src/worker.js.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https://plainly-medical-explainer.kimtastico.workers.dev
1. Search “hyponatremia”: the writer drafts, the reviewer checks, about 5 seconds. Point out the badges.
2. Search it again: instant, “From the glossary,” word for word the same.
3. Try “potassium 5.8 mmol/L”: it explains what the test measures, doesn’t judge the number, and only “potassium” is counted.
4. Open https://plainly-medical-explainer.kimtastico.workers.dev/api/health/ai: it shows which models answered and how long each took.
Before presenting, search each demo term once so it’s saved and instant.
Screenshot: the live site’s hyponatremia answer, October 30, 2026.
References: project repository, https://github.com/kimtastico/Applied-Agentic-Healthcare-Demo; Cloudflare Workers AI models, https://developers.cloudflare.com/workers-ai/models/; NVIDIA API catalog, https://build.nvidia.com; Supabase, https://supabase.com.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0" y="1874520"/>
            <a:ext cx="7955280" cy="3108960"/>
          </a:xfrm>
          <a:prstGeom prst="rect">
            <a:avLst/>
          </a:prstGeom>
          <a:noFill/>
          <a:ln/>
        </p:spPr>
        <p:txBody>
          <a:bodyPr wrap="square" rtlCol="0"/>
          <a:lstStyle>
            <a:lvl1pPr indent="0" marL="0">
              <a:buNone/>
              <a:defRPr lang="en-US" sz="5400" b="1" dirty="0">
                <a:solidFill>
                  <a:schemeClr val="tx1"/>
                </a:solidFill>
              </a:defRPr>
            </a:lvl1pPr>
          </a:lstStyle>
          <a:p>
            <a:pPr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indent="0" marL="0">
              <a:buNone/>
              <a:defRPr lang="en-US" sz="4000" b="1" dirty="0">
                <a:solidFill>
                  <a:schemeClr val="tx1"/>
                </a:solidFill>
              </a:defRPr>
            </a:lvl1pPr>
          </a:lstStyle>
          <a:p>
            <a:pP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plainly-medical-explainer.kimtastico.workers.dev" TargetMode="Externa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square"/>
          <p:cNvSpPr/>
          <p:nvPr/>
        </p:nvSpPr>
        <p:spPr>
          <a:xfrm>
            <a:off x="822960" y="2331720"/>
            <a:ext cx="2194560" cy="2194560"/>
          </a:xfrm>
          <a:prstGeom prst="roundRect">
            <a:avLst>
              <a:gd name="adj" fmla="val 18750"/>
            </a:avLst>
          </a:prstGeom>
          <a:solidFill>
            <a:schemeClr val="accent1"/>
          </a:solidFill>
          <a:ln/>
        </p:spPr>
      </p:sp>
      <p:sp>
        <p:nvSpPr>
          <p:cNvPr id="3" name="Logo cross"/>
          <p:cNvSpPr/>
          <p:nvPr/>
        </p:nvSpPr>
        <p:spPr>
          <a:xfrm>
            <a:off x="1234440" y="2743200"/>
            <a:ext cx="1371600" cy="1371600"/>
          </a:xfrm>
          <a:prstGeom prst="plus">
            <a:avLst/>
          </a:prstGeom>
          <a:solidFill>
            <a:schemeClr val="bg1"/>
          </a:solidFill>
          <a:ln/>
        </p:spPr>
      </p:sp>
      <p:sp>
        <p:nvSpPr>
          <p:cNvPr id="4" name="Text 0"/>
          <p:cNvSpPr/>
          <p:nvPr>
            <p:ph idx="100" type="title" hasCustomPrompt="1"/>
          </p:nvPr>
        </p:nvSpPr>
        <p:spPr>
          <a:xfrm>
            <a:off x="3657600" y="1874520"/>
            <a:ext cx="7955280" cy="3108960"/>
          </a:xfrm>
          <a:prstGeom prst="rect">
            <a:avLst/>
          </a:prstGeom>
          <a:noFill/>
          <a:ln/>
        </p:spPr>
        <p:txBody>
          <a:bodyPr wrap="square" lIns="0" tIns="0" rIns="0" bIns="0" rtlCol="0" anchor="ctr"/>
          <a:lstStyle/>
          <a:p>
            <a:pPr indent="0" marL="0">
              <a:buNone/>
            </a:pPr>
            <a:r>
              <a:rPr lang="en-US" sz="5400" b="1" dirty="0">
                <a:solidFill>
                  <a:schemeClr val="tx1"/>
                </a:solidFill>
              </a:rPr>
              <a:t>Plainly:</a:t>
            </a:r>
            <a:endParaRPr lang="en-US" sz="5400" dirty="0"/>
          </a:p>
          <a:p>
            <a:pPr indent="0" marL="0">
              <a:buNone/>
            </a:pPr>
            <a:r>
              <a:rPr lang="en-US" sz="5400" b="1" dirty="0">
                <a:solidFill>
                  <a:schemeClr val="tx1"/>
                </a:solidFill>
              </a:rPr>
              <a:t>medical words, explained</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Your reports should make sense to you</a:t>
            </a:r>
            <a:endParaRPr lang="en-US" sz="4000" dirty="0"/>
          </a:p>
        </p:txBody>
      </p:sp>
      <p:sp>
        <p:nvSpPr>
          <p:cNvPr id="3" name="Why"/>
          <p:cNvSpPr txBox="1"/>
          <p:nvPr/>
        </p:nvSpPr>
        <p:spPr>
          <a:xfrm>
            <a:off x="548640" y="1463040"/>
            <a:ext cx="5318608" cy="2743200"/>
          </a:xfrm>
          <a:prstGeom prst="rect">
            <a:avLst/>
          </a:prstGeom>
          <a:noFill/>
          <a:ln/>
        </p:spPr>
        <p:txBody>
          <a:bodyPr wrap="square" lIns="0" tIns="0" rIns="0" bIns="0" rtlCol="0" anchor="t"/>
          <a:lstStyle/>
          <a:p>
            <a:pPr indent="0" marL="0">
              <a:spcAft>
                <a:spcPts val="1200"/>
              </a:spcAft>
              <a:buNone/>
            </a:pPr>
            <a:r>
              <a:rPr lang="en-US" sz="3200" b="1" dirty="0">
                <a:solidFill>
                  <a:schemeClr val="tx1"/>
                </a:solidFill>
              </a:rPr>
              <a:t>Why it matters to me</a:t>
            </a:r>
            <a:endParaRPr lang="en-US" sz="3200" dirty="0"/>
          </a:p>
          <a:p>
            <a:pPr indent="0" marL="0">
              <a:spcAft>
                <a:spcPts val="1200"/>
              </a:spcAft>
              <a:buNone/>
            </a:pPr>
            <a:r>
              <a:rPr lang="en-US" sz="3200" i="1" dirty="0">
                <a:solidFill>
                  <a:schemeClr val="tx2"/>
                </a:solidFill>
              </a:rPr>
              <a:t>[Your reason, in your own words: 1–2 sentences]</a:t>
            </a:r>
            <a:endParaRPr lang="en-US" sz="3200" dirty="0"/>
          </a:p>
        </p:txBody>
      </p:sp>
      <p:sp>
        <p:nvSpPr>
          <p:cNvPr id="4" name="Goal"/>
          <p:cNvSpPr txBox="1"/>
          <p:nvPr/>
        </p:nvSpPr>
        <p:spPr>
          <a:xfrm>
            <a:off x="6324448" y="1463040"/>
            <a:ext cx="5318608" cy="4754880"/>
          </a:xfrm>
          <a:prstGeom prst="rect">
            <a:avLst/>
          </a:prstGeom>
          <a:noFill/>
          <a:ln/>
        </p:spPr>
        <p:txBody>
          <a:bodyPr wrap="square" lIns="0" tIns="0" rIns="0" bIns="0" rtlCol="0" anchor="t"/>
          <a:lstStyle/>
          <a:p>
            <a:pPr indent="0" marL="0">
              <a:spcAft>
                <a:spcPts val="1000"/>
              </a:spcAft>
              <a:buNone/>
            </a:pPr>
            <a:r>
              <a:rPr lang="en-US" sz="3200" b="1" dirty="0">
                <a:solidFill>
                  <a:schemeClr val="tx1"/>
                </a:solidFill>
              </a:rPr>
              <a:t>The goal</a:t>
            </a:r>
            <a:endParaRPr lang="en-US" sz="3200" dirty="0"/>
          </a:p>
          <a:p>
            <a:pPr marL="381000" indent="-381000">
              <a:spcAft>
                <a:spcPts val="1000"/>
              </a:spcAft>
              <a:buSzPct val="100000"/>
              <a:buChar char="•"/>
            </a:pPr>
            <a:r>
              <a:rPr lang="en-US" sz="3200" dirty="0">
                <a:solidFill>
                  <a:schemeClr val="tx1"/>
                </a:solidFill>
              </a:rPr>
              <a:t>Paste a phrase like “hyponatremia”</a:t>
            </a:r>
            <a:endParaRPr lang="en-US" sz="3200" dirty="0"/>
          </a:p>
          <a:p>
            <a:pPr marL="381000" indent="-381000">
              <a:spcAft>
                <a:spcPts val="1000"/>
              </a:spcAft>
              <a:buSzPct val="100000"/>
              <a:buChar char="•"/>
            </a:pPr>
            <a:r>
              <a:rPr lang="en-US" sz="3200" dirty="0">
                <a:solidFill>
                  <a:schemeClr val="tx1"/>
                </a:solidFill>
              </a:rPr>
              <a:t>Plain English, grade 6</a:t>
            </a:r>
            <a:endParaRPr lang="en-US" sz="3200" dirty="0"/>
          </a:p>
          <a:p>
            <a:pPr marL="381000" indent="-381000">
              <a:spcAft>
                <a:spcPts val="1000"/>
              </a:spcAft>
              <a:buSzPct val="100000"/>
              <a:buChar char="•"/>
            </a:pPr>
            <a:r>
              <a:rPr lang="en-US" sz="3200" dirty="0">
                <a:solidFill>
                  <a:schemeClr val="tx1"/>
                </a:solidFill>
              </a:rPr>
              <a:t>Temperature 0: creativity is a bug</a:t>
            </a:r>
            <a:endParaRPr lang="en-US" sz="3200" dirty="0"/>
          </a:p>
          <a:p>
            <a:pPr marL="381000" indent="-381000">
              <a:spcAft>
                <a:spcPts val="1000"/>
              </a:spcAft>
              <a:buSzPct val="100000"/>
              <a:buChar char="•"/>
            </a:pPr>
            <a:r>
              <a:rPr lang="en-US" sz="3200" dirty="0">
                <a:solidFill>
                  <a:schemeClr val="tx1"/>
                </a:solidFill>
              </a:rPr>
              <a:t>Save the term, never the person</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The glossary is checked before any AI</a:t>
            </a:r>
            <a:endParaRPr lang="en-US" sz="4000" dirty="0"/>
          </a:p>
        </p:txBody>
      </p:sp>
      <p:sp>
        <p:nvSpPr>
          <p:cNvPr id="3" name="Paste"/>
          <p:cNvSpPr/>
          <p:nvPr/>
        </p:nvSpPr>
        <p:spPr>
          <a:xfrm>
            <a:off x="548640" y="1828800"/>
            <a:ext cx="2926080" cy="1737360"/>
          </a:xfrm>
          <a:prstGeom prst="roundRect">
            <a:avLst>
              <a:gd name="adj" fmla="val 6316"/>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You paste “hyponatremia”</a:t>
            </a:r>
            <a:endParaRPr lang="en-US" sz="3200" dirty="0"/>
          </a:p>
        </p:txBody>
      </p:sp>
      <p:sp>
        <p:nvSpPr>
          <p:cNvPr id="4" name="Arrow paste to worker"/>
          <p:cNvSpPr/>
          <p:nvPr/>
        </p:nvSpPr>
        <p:spPr>
          <a:xfrm>
            <a:off x="3474720" y="2697480"/>
            <a:ext cx="594360" cy="91"/>
          </a:xfrm>
          <a:prstGeom prst="line">
            <a:avLst/>
          </a:prstGeom>
          <a:noFill/>
          <a:ln w="38100">
            <a:solidFill>
              <a:srgbClr val="1B2421"/>
            </a:solidFill>
            <a:prstDash val="solid"/>
            <a:tailEnd type="triangle"/>
          </a:ln>
        </p:spPr>
      </p:sp>
      <p:sp>
        <p:nvSpPr>
          <p:cNvPr id="5" name="Worker"/>
          <p:cNvSpPr/>
          <p:nvPr/>
        </p:nvSpPr>
        <p:spPr>
          <a:xfrm>
            <a:off x="4069080" y="1828800"/>
            <a:ext cx="3017520" cy="1737360"/>
          </a:xfrm>
          <a:prstGeom prst="roundRect">
            <a:avLst>
              <a:gd name="adj" fmla="val 6316"/>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Worker looks in the glossary</a:t>
            </a:r>
            <a:endParaRPr lang="en-US" sz="3200" dirty="0"/>
          </a:p>
        </p:txBody>
      </p:sp>
      <p:sp>
        <p:nvSpPr>
          <p:cNvPr id="6" name="Arrow worker to decision"/>
          <p:cNvSpPr/>
          <p:nvPr/>
        </p:nvSpPr>
        <p:spPr>
          <a:xfrm>
            <a:off x="7086600" y="2697480"/>
            <a:ext cx="594360" cy="91"/>
          </a:xfrm>
          <a:prstGeom prst="line">
            <a:avLst/>
          </a:prstGeom>
          <a:noFill/>
          <a:ln w="38100">
            <a:solidFill>
              <a:srgbClr val="1B2421"/>
            </a:solidFill>
            <a:prstDash val="solid"/>
            <a:tailEnd type="triangle"/>
          </a:ln>
        </p:spPr>
      </p:sp>
      <p:sp>
        <p:nvSpPr>
          <p:cNvPr id="7" name="Saved before?"/>
          <p:cNvSpPr/>
          <p:nvPr/>
        </p:nvSpPr>
        <p:spPr>
          <a:xfrm>
            <a:off x="7680960" y="1737360"/>
            <a:ext cx="3108960" cy="1920240"/>
          </a:xfrm>
          <a:prstGeom prst="diamond">
            <a:avLst/>
          </a:prstGeom>
          <a:solidFill>
            <a:schemeClr val="bg1"/>
          </a:solidFill>
          <a:ln w="19050">
            <a:solidFill>
              <a:srgbClr val="4F5B57"/>
            </a:solidFill>
          </a:ln>
        </p:spPr>
        <p:txBody>
          <a:bodyPr wrap="square" lIns="0" tIns="0" rIns="0" bIns="0" rtlCol="0" anchor="ctr"/>
          <a:lstStyle/>
          <a:p>
            <a:pPr algn="ctr" indent="0" marL="0">
              <a:buNone/>
            </a:pPr>
            <a:r>
              <a:rPr lang="en-US" sz="3200" dirty="0">
                <a:solidFill>
                  <a:schemeClr val="tx1"/>
                </a:solidFill>
              </a:rPr>
              <a:t>Saved?</a:t>
            </a:r>
            <a:endParaRPr lang="en-US" sz="3200" dirty="0"/>
          </a:p>
        </p:txBody>
      </p:sp>
      <p:sp>
        <p:nvSpPr>
          <p:cNvPr id="8" name="Arrow yes"/>
          <p:cNvSpPr/>
          <p:nvPr/>
        </p:nvSpPr>
        <p:spPr>
          <a:xfrm>
            <a:off x="9235440" y="3657600"/>
            <a:ext cx="91" cy="868680"/>
          </a:xfrm>
          <a:prstGeom prst="line">
            <a:avLst/>
          </a:prstGeom>
          <a:noFill/>
          <a:ln w="38100">
            <a:solidFill>
              <a:srgbClr val="1B2421"/>
            </a:solidFill>
            <a:prstDash val="solid"/>
            <a:tailEnd type="triangle"/>
          </a:ln>
        </p:spPr>
      </p:sp>
      <p:sp>
        <p:nvSpPr>
          <p:cNvPr id="9" name="Yes label"/>
          <p:cNvSpPr txBox="1"/>
          <p:nvPr/>
        </p:nvSpPr>
        <p:spPr>
          <a:xfrm>
            <a:off x="9372600" y="3840480"/>
            <a:ext cx="914400" cy="502920"/>
          </a:xfrm>
          <a:prstGeom prst="rect">
            <a:avLst/>
          </a:prstGeom>
          <a:noFill/>
          <a:ln/>
        </p:spPr>
        <p:txBody>
          <a:bodyPr wrap="square" lIns="0" tIns="0" rIns="0" bIns="0" rtlCol="0" anchor="ctr"/>
          <a:lstStyle/>
          <a:p>
            <a:pPr indent="0" marL="0">
              <a:buNone/>
            </a:pPr>
            <a:r>
              <a:rPr lang="en-US" sz="3200" dirty="0">
                <a:solidFill>
                  <a:schemeClr val="tx1"/>
                </a:solidFill>
              </a:rPr>
              <a:t>Yes</a:t>
            </a:r>
            <a:endParaRPr lang="en-US" sz="3200" dirty="0"/>
          </a:p>
        </p:txBody>
      </p:sp>
      <p:sp>
        <p:nvSpPr>
          <p:cNvPr id="10" name="Instant answer"/>
          <p:cNvSpPr/>
          <p:nvPr/>
        </p:nvSpPr>
        <p:spPr>
          <a:xfrm>
            <a:off x="7498080" y="4526280"/>
            <a:ext cx="3474720" cy="1417320"/>
          </a:xfrm>
          <a:prstGeom prst="roundRect">
            <a:avLst>
              <a:gd name="adj" fmla="val 7742"/>
            </a:avLst>
          </a:prstGeom>
          <a:solidFill>
            <a:schemeClr val="accent1"/>
          </a:solidFill>
          <a:ln w="19050">
            <a:solidFill>
              <a:srgbClr val="0F6B5C"/>
            </a:solidFill>
          </a:ln>
        </p:spPr>
        <p:txBody>
          <a:bodyPr wrap="square" lIns="1016" tIns="1016" rIns="1016" bIns="1016" rtlCol="0" anchor="ctr"/>
          <a:lstStyle/>
          <a:p>
            <a:pPr algn="ctr" indent="0" marL="0">
              <a:buNone/>
            </a:pPr>
            <a:r>
              <a:rPr lang="en-US" sz="3200" dirty="0">
                <a:solidFill>
                  <a:schemeClr val="bg1"/>
                </a:solidFill>
              </a:rPr>
              <a:t>Show saved answer: instant</a:t>
            </a:r>
            <a:endParaRPr lang="en-US" sz="3200" dirty="0"/>
          </a:p>
        </p:txBody>
      </p:sp>
      <p:sp>
        <p:nvSpPr>
          <p:cNvPr id="11" name="Arrow no, continues on next slide"/>
          <p:cNvSpPr/>
          <p:nvPr/>
        </p:nvSpPr>
        <p:spPr>
          <a:xfrm>
            <a:off x="10789920" y="2697480"/>
            <a:ext cx="1401775" cy="91"/>
          </a:xfrm>
          <a:prstGeom prst="line">
            <a:avLst/>
          </a:prstGeom>
          <a:noFill/>
          <a:ln w="38100">
            <a:solidFill>
              <a:srgbClr val="1B2421"/>
            </a:solidFill>
            <a:prstDash val="solid"/>
            <a:tailEnd type="triangle"/>
          </a:ln>
        </p:spPr>
      </p:sp>
      <p:sp>
        <p:nvSpPr>
          <p:cNvPr id="12" name="No label"/>
          <p:cNvSpPr txBox="1"/>
          <p:nvPr/>
        </p:nvSpPr>
        <p:spPr>
          <a:xfrm>
            <a:off x="10881360" y="2103120"/>
            <a:ext cx="914400" cy="502920"/>
          </a:xfrm>
          <a:prstGeom prst="rect">
            <a:avLst/>
          </a:prstGeom>
          <a:noFill/>
          <a:ln/>
        </p:spPr>
        <p:txBody>
          <a:bodyPr wrap="square" lIns="0" tIns="0" rIns="0" bIns="0" rtlCol="0" anchor="ctr"/>
          <a:lstStyle/>
          <a:p>
            <a:pPr indent="0" marL="0">
              <a:buNone/>
            </a:pPr>
            <a:r>
              <a:rPr lang="en-US" sz="3200" dirty="0">
                <a:solidFill>
                  <a:schemeClr val="tx1"/>
                </a:solidFill>
              </a:rPr>
              <a:t>No</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A second AI checks every new answer</a:t>
            </a:r>
            <a:endParaRPr lang="en-US" sz="4000" dirty="0"/>
          </a:p>
        </p:txBody>
      </p:sp>
      <p:sp>
        <p:nvSpPr>
          <p:cNvPr id="3" name="Arrow in from previous slide"/>
          <p:cNvSpPr/>
          <p:nvPr/>
        </p:nvSpPr>
        <p:spPr>
          <a:xfrm>
            <a:off x="0" y="2651760"/>
            <a:ext cx="914400" cy="91"/>
          </a:xfrm>
          <a:prstGeom prst="line">
            <a:avLst/>
          </a:prstGeom>
          <a:noFill/>
          <a:ln w="38100">
            <a:solidFill>
              <a:srgbClr val="1B2421"/>
            </a:solidFill>
            <a:prstDash val="solid"/>
            <a:tailEnd type="triangle"/>
          </a:ln>
        </p:spPr>
      </p:sp>
      <p:sp>
        <p:nvSpPr>
          <p:cNvPr id="4" name="Writer"/>
          <p:cNvSpPr/>
          <p:nvPr/>
        </p:nvSpPr>
        <p:spPr>
          <a:xfrm>
            <a:off x="914400" y="1600200"/>
            <a:ext cx="3063240" cy="2103120"/>
          </a:xfrm>
          <a:prstGeom prst="roundRect">
            <a:avLst>
              <a:gd name="adj" fmla="val 5217"/>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Writer AI drafts</a:t>
            </a:r>
            <a:endParaRPr lang="en-US" sz="3200" dirty="0"/>
          </a:p>
          <a:p>
            <a:pPr algn="ctr" indent="0" marL="0">
              <a:buNone/>
            </a:pPr>
            <a:r>
              <a:rPr lang="en-US" sz="3200" dirty="0">
                <a:solidFill>
                  <a:schemeClr val="tx1"/>
                </a:solidFill>
              </a:rPr>
              <a:t>(Llama 3.3 70B)</a:t>
            </a:r>
            <a:endParaRPr lang="en-US" sz="3200" dirty="0"/>
          </a:p>
        </p:txBody>
      </p:sp>
      <p:sp>
        <p:nvSpPr>
          <p:cNvPr id="5" name="Arrow writer to checks"/>
          <p:cNvSpPr/>
          <p:nvPr/>
        </p:nvSpPr>
        <p:spPr>
          <a:xfrm>
            <a:off x="3977640" y="2651760"/>
            <a:ext cx="457200" cy="91"/>
          </a:xfrm>
          <a:prstGeom prst="line">
            <a:avLst/>
          </a:prstGeom>
          <a:noFill/>
          <a:ln w="38100">
            <a:solidFill>
              <a:srgbClr val="1B2421"/>
            </a:solidFill>
            <a:prstDash val="solid"/>
            <a:tailEnd type="triangle"/>
          </a:ln>
        </p:spPr>
      </p:sp>
      <p:sp>
        <p:nvSpPr>
          <p:cNvPr id="6" name="Code checks"/>
          <p:cNvSpPr/>
          <p:nvPr/>
        </p:nvSpPr>
        <p:spPr>
          <a:xfrm>
            <a:off x="4434840" y="1600200"/>
            <a:ext cx="3063240" cy="2103120"/>
          </a:xfrm>
          <a:prstGeom prst="roundRect">
            <a:avLst>
              <a:gd name="adj" fmla="val 5217"/>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Code checks:</a:t>
            </a:r>
            <a:endParaRPr lang="en-US" sz="3200" dirty="0"/>
          </a:p>
          <a:p>
            <a:pPr algn="ctr" indent="0" marL="0">
              <a:buNone/>
            </a:pPr>
            <a:r>
              <a:rPr lang="en-US" sz="3200" dirty="0">
                <a:solidFill>
                  <a:schemeClr val="tx1"/>
                </a:solidFill>
              </a:rPr>
              <a:t>grade, causes,</a:t>
            </a:r>
            <a:endParaRPr lang="en-US" sz="3200" dirty="0"/>
          </a:p>
          <a:p>
            <a:pPr algn="ctr" indent="0" marL="0">
              <a:buNone/>
            </a:pPr>
            <a:r>
              <a:rPr lang="en-US" sz="3200" dirty="0">
                <a:solidFill>
                  <a:schemeClr val="tx1"/>
                </a:solidFill>
              </a:rPr>
              <a:t>privacy</a:t>
            </a:r>
            <a:endParaRPr lang="en-US" sz="3200" dirty="0"/>
          </a:p>
        </p:txBody>
      </p:sp>
      <p:sp>
        <p:nvSpPr>
          <p:cNvPr id="7" name="Arrow checks to reviewer"/>
          <p:cNvSpPr/>
          <p:nvPr/>
        </p:nvSpPr>
        <p:spPr>
          <a:xfrm>
            <a:off x="7498080" y="2651760"/>
            <a:ext cx="457200" cy="91"/>
          </a:xfrm>
          <a:prstGeom prst="line">
            <a:avLst/>
          </a:prstGeom>
          <a:noFill/>
          <a:ln w="38100">
            <a:solidFill>
              <a:srgbClr val="1B2421"/>
            </a:solidFill>
            <a:prstDash val="solid"/>
            <a:tailEnd type="triangle"/>
          </a:ln>
        </p:spPr>
      </p:sp>
      <p:sp>
        <p:nvSpPr>
          <p:cNvPr id="8" name="Reviewer"/>
          <p:cNvSpPr/>
          <p:nvPr/>
        </p:nvSpPr>
        <p:spPr>
          <a:xfrm>
            <a:off x="7955280" y="1600200"/>
            <a:ext cx="3410712" cy="2103120"/>
          </a:xfrm>
          <a:prstGeom prst="roundRect">
            <a:avLst>
              <a:gd name="adj" fmla="val 5217"/>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Reviewer AI</a:t>
            </a:r>
            <a:endParaRPr lang="en-US" sz="3200" dirty="0"/>
          </a:p>
          <a:p>
            <a:pPr algn="ctr" indent="0" marL="0">
              <a:buNone/>
            </a:pPr>
            <a:r>
              <a:rPr lang="en-US" sz="3200" dirty="0">
                <a:solidFill>
                  <a:schemeClr val="tx1"/>
                </a:solidFill>
              </a:rPr>
              <a:t>approves or fixes</a:t>
            </a:r>
            <a:endParaRPr lang="en-US" sz="3200" dirty="0"/>
          </a:p>
          <a:p>
            <a:pPr algn="ctr" indent="0" marL="0">
              <a:buNone/>
            </a:pPr>
            <a:r>
              <a:rPr lang="en-US" sz="3200" dirty="0">
                <a:solidFill>
                  <a:schemeClr val="tx1"/>
                </a:solidFill>
              </a:rPr>
              <a:t>(gpt-oss-120b)</a:t>
            </a:r>
            <a:endParaRPr lang="en-US" sz="3200" dirty="0"/>
          </a:p>
        </p:txBody>
      </p:sp>
      <p:sp>
        <p:nvSpPr>
          <p:cNvPr id="9" name="Arrow reviewer to save"/>
          <p:cNvSpPr/>
          <p:nvPr/>
        </p:nvSpPr>
        <p:spPr>
          <a:xfrm>
            <a:off x="9660636" y="3703320"/>
            <a:ext cx="91" cy="640080"/>
          </a:xfrm>
          <a:prstGeom prst="line">
            <a:avLst/>
          </a:prstGeom>
          <a:noFill/>
          <a:ln w="38100">
            <a:solidFill>
              <a:srgbClr val="1B2421"/>
            </a:solidFill>
            <a:prstDash val="solid"/>
            <a:tailEnd type="triangle"/>
          </a:ln>
        </p:spPr>
      </p:sp>
      <p:sp>
        <p:nvSpPr>
          <p:cNvPr id="10" name="Save"/>
          <p:cNvSpPr/>
          <p:nvPr/>
        </p:nvSpPr>
        <p:spPr>
          <a:xfrm>
            <a:off x="7955280" y="4343400"/>
            <a:ext cx="3410712" cy="1554480"/>
          </a:xfrm>
          <a:prstGeom prst="roundRect">
            <a:avLst>
              <a:gd name="adj" fmla="val 7059"/>
            </a:avLst>
          </a:prstGeom>
          <a:solidFill>
            <a:schemeClr val="bg1"/>
          </a:solidFill>
          <a:ln w="19050">
            <a:solidFill>
              <a:srgbClr val="4F5B57"/>
            </a:solidFill>
          </a:ln>
        </p:spPr>
        <p:txBody>
          <a:bodyPr wrap="square" lIns="1016" tIns="1016" rIns="1016" bIns="1016" rtlCol="0" anchor="ctr"/>
          <a:lstStyle/>
          <a:p>
            <a:pPr algn="ctr" indent="0" marL="0">
              <a:buNone/>
            </a:pPr>
            <a:r>
              <a:rPr lang="en-US" sz="3200" dirty="0">
                <a:solidFill>
                  <a:schemeClr val="tx1"/>
                </a:solidFill>
              </a:rPr>
              <a:t>Final check,</a:t>
            </a:r>
            <a:endParaRPr lang="en-US" sz="3200" dirty="0"/>
          </a:p>
          <a:p>
            <a:pPr algn="ctr" indent="0" marL="0">
              <a:buNone/>
            </a:pPr>
            <a:r>
              <a:rPr lang="en-US" sz="3200" dirty="0">
                <a:solidFill>
                  <a:schemeClr val="tx1"/>
                </a:solidFill>
              </a:rPr>
              <a:t>then saved</a:t>
            </a:r>
            <a:endParaRPr lang="en-US" sz="3200" dirty="0"/>
          </a:p>
        </p:txBody>
      </p:sp>
      <p:sp>
        <p:nvSpPr>
          <p:cNvPr id="11" name="Arrow save to answer"/>
          <p:cNvSpPr/>
          <p:nvPr/>
        </p:nvSpPr>
        <p:spPr>
          <a:xfrm flipH="1">
            <a:off x="7498080" y="5120640"/>
            <a:ext cx="457200" cy="91"/>
          </a:xfrm>
          <a:prstGeom prst="line">
            <a:avLst/>
          </a:prstGeom>
          <a:noFill/>
          <a:ln w="38100">
            <a:solidFill>
              <a:srgbClr val="1B2421"/>
            </a:solidFill>
            <a:prstDash val="solid"/>
            <a:tailEnd type="triangle"/>
          </a:ln>
        </p:spPr>
      </p:sp>
      <p:sp>
        <p:nvSpPr>
          <p:cNvPr id="12" name="Answer"/>
          <p:cNvSpPr/>
          <p:nvPr/>
        </p:nvSpPr>
        <p:spPr>
          <a:xfrm>
            <a:off x="4434840" y="4343400"/>
            <a:ext cx="3063240" cy="1554480"/>
          </a:xfrm>
          <a:prstGeom prst="roundRect">
            <a:avLst>
              <a:gd name="adj" fmla="val 7059"/>
            </a:avLst>
          </a:prstGeom>
          <a:solidFill>
            <a:schemeClr val="accent1"/>
          </a:solidFill>
          <a:ln w="19050">
            <a:solidFill>
              <a:srgbClr val="0F6B5C"/>
            </a:solidFill>
          </a:ln>
        </p:spPr>
        <p:txBody>
          <a:bodyPr wrap="square" lIns="1016" tIns="1016" rIns="1016" bIns="1016" rtlCol="0" anchor="ctr"/>
          <a:lstStyle/>
          <a:p>
            <a:pPr algn="ctr" indent="0" marL="0">
              <a:buNone/>
            </a:pPr>
            <a:r>
              <a:rPr lang="en-US" sz="3200" dirty="0">
                <a:solidFill>
                  <a:schemeClr val="bg1"/>
                </a:solidFill>
              </a:rPr>
              <a:t>Answer with review badge</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A different model checks the writer</a:t>
            </a:r>
            <a:endParaRPr lang="en-US" sz="4000" dirty="0"/>
          </a:p>
        </p:txBody>
      </p:sp>
      <p:graphicFrame>
        <p:nvGraphicFramePr>
          <p:cNvPr id="6" name="Writer vs reviewer"/>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4389120"/>
                <a:gridCol w="4416552"/>
              </a:tblGrid>
              <a:tr h="0">
                <a:tc>
                  <a:txBody>
                    <a:bodyPr/>
                    <a:lstStyle/>
                    <a:p>
                      <a:pPr indent="0" marL="0">
                        <a:buNone/>
                      </a:pP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tx1"/>
                          </a:solidFill>
                        </a:rPr>
                        <a:t>Writer</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tx1"/>
                          </a:solidFill>
                        </a:rPr>
                        <a:t>Reviewer</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2"/>
                          </a:solidFill>
                        </a:rPr>
                        <a:t>Model</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Llama 3.3 70B</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gpt-oss-120b</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2"/>
                          </a:solidFill>
                        </a:rPr>
                        <a:t>Made by</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accent1"/>
                          </a:solidFill>
                        </a:rPr>
                        <a:t>Meta</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accent1"/>
                          </a:solidFill>
                        </a:rPr>
                        <a:t>OpenAI</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2"/>
                          </a:solidFill>
                        </a:rPr>
                        <a:t>Runs on</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Cloudflare Workers AI</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Cloudflare Workers AI</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2"/>
                          </a:solidFill>
                        </a:rPr>
                        <a:t>Why</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Clear, fast writing</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Reasons through rules</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bl>
          </a:graphicData>
        </a:graphic>
      </p:graphicFrame>
      <p:sp>
        <p:nvSpPr>
          <p:cNvPr id="4" name="Backups"/>
          <p:cNvSpPr txBox="1"/>
          <p:nvPr/>
        </p:nvSpPr>
        <p:spPr>
          <a:xfrm>
            <a:off x="548640" y="4526280"/>
            <a:ext cx="11094415" cy="548640"/>
          </a:xfrm>
          <a:prstGeom prst="rect">
            <a:avLst/>
          </a:prstGeom>
          <a:noFill/>
          <a:ln/>
        </p:spPr>
        <p:txBody>
          <a:bodyPr wrap="square" lIns="0" tIns="0" rIns="0" bIns="0" rtlCol="0" anchor="ctr"/>
          <a:lstStyle/>
          <a:p>
            <a:pPr indent="0" marL="0">
              <a:buNone/>
            </a:pPr>
            <a:r>
              <a:rPr lang="en-US" sz="3200" dirty="0">
                <a:solidFill>
                  <a:schemeClr val="tx1"/>
                </a:solidFill>
              </a:rPr>
              <a:t>Backup if Workers AI fails: NVIDIA Nemotron</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The database: one row per term</a:t>
            </a:r>
            <a:endParaRPr lang="en-US" sz="4000" dirty="0"/>
          </a:p>
        </p:txBody>
      </p:sp>
      <p:sp>
        <p:nvSpPr>
          <p:cNvPr id="3" name="Table name"/>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3200" dirty="0">
                <a:solidFill>
                  <a:schemeClr val="tx1"/>
                </a:solidFill>
              </a:rPr>
              <a:t>Supabase table: </a:t>
            </a:r>
            <a:pPr indent="0" marL="0">
              <a:buNone/>
            </a:pPr>
            <a:r>
              <a:rPr lang="en-US" sz="3200" dirty="0">
                <a:solidFill>
                  <a:schemeClr val="tx1"/>
                </a:solidFill>
                <a:latin typeface="Courier New" pitchFamily="34" charset="0"/>
                <a:ea typeface="Courier New" pitchFamily="34" charset="-122"/>
                <a:cs typeface="Courier New" pitchFamily="34" charset="-120"/>
              </a:rPr>
              <a:t>glossary_terms</a:t>
            </a:r>
            <a:endParaRPr lang="en-US" sz="3200" dirty="0"/>
          </a:p>
        </p:txBody>
      </p:sp>
      <p:graphicFrame>
        <p:nvGraphicFramePr>
          <p:cNvPr id="7" name="Sample rows"/>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788920"/>
                <a:gridCol w="3154680"/>
                <a:gridCol w="3090672"/>
                <a:gridCol w="2057400"/>
              </a:tblGrid>
              <a:tr h="0">
                <a:tc>
                  <a:txBody>
                    <a:bodyPr/>
                    <a:lstStyle/>
                    <a:p>
                      <a:pPr indent="0" marL="0">
                        <a:buNone/>
                      </a:pPr>
                      <a:r>
                        <a:rPr lang="en-US" sz="3200" b="1" dirty="0">
                          <a:solidFill>
                            <a:schemeClr val="tx1"/>
                          </a:solidFill>
                          <a:latin typeface="Courier New" pitchFamily="34" charset="0"/>
                          <a:ea typeface="Courier New" pitchFamily="34" charset="-122"/>
                          <a:cs typeface="Courier New" pitchFamily="34" charset="-120"/>
                        </a:rPr>
                        <a:t>term</a:t>
                      </a:r>
                      <a:endParaRPr lang="en-US" sz="3200" dirty="0">
                        <a:latin typeface="Courier New" charset="0"/>
                        <a:ea typeface="Courier New" charset="0"/>
                        <a:cs typeface="Courier New" charset="0"/>
                      </a:endParaRPr>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tx1"/>
                          </a:solidFill>
                          <a:latin typeface="Courier New" pitchFamily="34" charset="0"/>
                          <a:ea typeface="Courier New" pitchFamily="34" charset="-122"/>
                          <a:cs typeface="Courier New" pitchFamily="34" charset="-120"/>
                        </a:rPr>
                        <a:t>search_count</a:t>
                      </a:r>
                      <a:endParaRPr lang="en-US" sz="3200" dirty="0">
                        <a:latin typeface="Courier New" charset="0"/>
                        <a:ea typeface="Courier New" charset="0"/>
                        <a:cs typeface="Courier New" charset="0"/>
                      </a:endParaRPr>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tx1"/>
                          </a:solidFill>
                          <a:latin typeface="Courier New" pitchFamily="34" charset="0"/>
                          <a:ea typeface="Courier New" pitchFamily="34" charset="-122"/>
                          <a:cs typeface="Courier New" pitchFamily="34" charset="-120"/>
                        </a:rPr>
                        <a:t>explanation</a:t>
                      </a:r>
                      <a:endParaRPr lang="en-US" sz="3200" dirty="0">
                        <a:latin typeface="Courier New" charset="0"/>
                        <a:ea typeface="Courier New" charset="0"/>
                        <a:cs typeface="Courier New" charset="0"/>
                      </a:endParaRPr>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b="1" dirty="0">
                          <a:solidFill>
                            <a:schemeClr val="tx1"/>
                          </a:solidFill>
                          <a:latin typeface="Courier New" pitchFamily="34" charset="0"/>
                          <a:ea typeface="Courier New" pitchFamily="34" charset="-122"/>
                          <a:cs typeface="Courier New" pitchFamily="34" charset="-120"/>
                        </a:rPr>
                        <a:t>model</a:t>
                      </a:r>
                      <a:endParaRPr lang="en-US" sz="3200" dirty="0">
                        <a:latin typeface="Courier New" charset="0"/>
                        <a:ea typeface="Courier New" charset="0"/>
                        <a:cs typeface="Courier New" charset="0"/>
                      </a:endParaRPr>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1"/>
                          </a:solidFill>
                        </a:rPr>
                        <a:t>hyponatremia</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3 (example)</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“Less sodium in your blood…”</a:t>
                      </a:r>
                      <a:endParaRPr lang="en-US" sz="3200" dirty="0"/>
                    </a:p>
                    <a:p>
                      <a:pPr indent="0" marL="0">
                        <a:buNone/>
                      </a:pPr>
                      <a:r>
                        <a:rPr lang="en-US" sz="3200" b="1" dirty="0">
                          <a:solidFill>
                            <a:schemeClr val="accent1"/>
                          </a:solidFill>
                        </a:rPr>
                        <a:t>Reviewed</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Llama 3.3 70B</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r h="0">
                <a:tc>
                  <a:txBody>
                    <a:bodyPr/>
                    <a:lstStyle/>
                    <a:p>
                      <a:pPr indent="0" marL="0">
                        <a:buNone/>
                      </a:pPr>
                      <a:r>
                        <a:rPr lang="en-US" sz="3200" dirty="0">
                          <a:solidFill>
                            <a:schemeClr val="tx1"/>
                          </a:solidFill>
                        </a:rPr>
                        <a:t>potassium</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1 (example)</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None: the input had a number</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c>
                  <a:txBody>
                    <a:bodyPr/>
                    <a:lstStyle/>
                    <a:p>
                      <a:pPr indent="0" marL="0">
                        <a:buNone/>
                      </a:pPr>
                      <a:r>
                        <a:rPr lang="en-US" sz="3200" dirty="0">
                          <a:solidFill>
                            <a:schemeClr val="tx1"/>
                          </a:solidFill>
                        </a:rPr>
                        <a:t>None</a:t>
                      </a:r>
                      <a:endParaRPr lang="en-US" sz="3200" dirty="0"/>
                    </a:p>
                  </a:txBody>
                  <a:tcPr marL="109728" marR="109728" marT="54864" marB="54864" anchor="ctr">
                    <a:lnL w="12700" cap="flat" cmpd="sng" algn="ctr">
                      <a:solidFill>
                        <a:srgbClr val="DDE3E0"/>
                      </a:solidFill>
                      <a:prstDash val="solid"/>
                      <a:round/>
                      <a:headEnd type="none" w="med" len="med"/>
                      <a:tailEnd type="none" w="med" len="med"/>
                    </a:lnL>
                    <a:lnR w="12700" cap="flat" cmpd="sng" algn="ctr">
                      <a:solidFill>
                        <a:srgbClr val="DDE3E0"/>
                      </a:solidFill>
                      <a:prstDash val="solid"/>
                      <a:round/>
                      <a:headEnd type="none" w="med" len="med"/>
                      <a:tailEnd type="none" w="med" len="med"/>
                    </a:lnR>
                    <a:lnT w="12700" cap="flat" cmpd="sng" algn="ctr">
                      <a:solidFill>
                        <a:srgbClr val="DDE3E0"/>
                      </a:solidFill>
                      <a:prstDash val="solid"/>
                      <a:round/>
                      <a:headEnd type="none" w="med" len="med"/>
                      <a:tailEnd type="none" w="med" len="med"/>
                    </a:lnT>
                    <a:lnB w="12700" cap="flat" cmpd="sng" algn="ctr">
                      <a:solidFill>
                        <a:srgbClr val="DDE3E0"/>
                      </a:solidFill>
                      <a:prstDash val="solid"/>
                      <a:round/>
                      <a:headEnd type="none" w="med" len="med"/>
                      <a:tailEnd type="none" w="med" len="med"/>
                    </a:lnB>
                    <a:solidFill>
                      <a:schemeClr val="bg1"/>
                    </a:solidFill>
                  </a:tcPr>
                </a:tc>
              </a:tr>
            </a:tbl>
          </a:graphicData>
        </a:graphic>
      </p:graphicFrame>
      <p:sp>
        <p:nvSpPr>
          <p:cNvPr id="5" name="Never stored"/>
          <p:cNvSpPr txBox="1"/>
          <p:nvPr/>
        </p:nvSpPr>
        <p:spPr>
          <a:xfrm>
            <a:off x="548640" y="5440680"/>
            <a:ext cx="11094415" cy="502920"/>
          </a:xfrm>
          <a:prstGeom prst="rect">
            <a:avLst/>
          </a:prstGeom>
          <a:noFill/>
          <a:ln/>
        </p:spPr>
        <p:txBody>
          <a:bodyPr wrap="square" lIns="0" tIns="0" rIns="0" bIns="0" rtlCol="0" anchor="ctr"/>
          <a:lstStyle/>
          <a:p>
            <a:pPr indent="0" marL="0">
              <a:buNone/>
            </a:pPr>
            <a:r>
              <a:rPr lang="en-US" sz="3200" b="1" dirty="0">
                <a:solidFill>
                  <a:schemeClr val="accent2"/>
                </a:solidFill>
              </a:rPr>
              <a:t>Never stored: </a:t>
            </a:r>
            <a:pPr indent="0" marL="0">
              <a:buNone/>
            </a:pPr>
            <a:r>
              <a:rPr lang="en-US" sz="3200" dirty="0">
                <a:solidFill>
                  <a:schemeClr val="tx1"/>
                </a:solidFill>
              </a:rPr>
              <a:t>who searched or what they typed</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indent="0" marL="0">
              <a:buNone/>
            </a:pPr>
            <a:r>
              <a:rPr lang="en-US" sz="4000" b="1" dirty="0">
                <a:solidFill>
                  <a:schemeClr val="tx1"/>
                </a:solidFill>
              </a:rPr>
              <a:t>Try it: a reviewed answer in seconds</a:t>
            </a:r>
            <a:endParaRPr lang="en-US" sz="4000" dirty="0"/>
          </a:p>
        </p:txBody>
      </p:sp>
      <p:pic>
        <p:nvPicPr>
          <p:cNvPr id="3" name="Demo screenshot" descr="Plainly’s answer for hyponatremia, with the badges Written by AI, Reading level about grade 3, Checked by reviewer AI, and Counted in public glossary">    </p:cNvPr>
          <p:cNvPicPr>
            <a:picLocks noChangeAspect="1"/>
          </p:cNvPicPr>
          <p:nvPr/>
        </p:nvPicPr>
        <p:blipFill>
          <a:blip r:embed="rId1"/>
          <a:stretch>
            <a:fillRect/>
          </a:stretch>
        </p:blipFill>
        <p:spPr>
          <a:xfrm>
            <a:off x="548640" y="1417320"/>
            <a:ext cx="6217920" cy="3712316"/>
          </a:xfrm>
          <a:prstGeom prst="rect">
            <a:avLst/>
          </a:prstGeom>
        </p:spPr>
      </p:pic>
      <p:sp>
        <p:nvSpPr>
          <p:cNvPr id="4" name="Demo steps"/>
          <p:cNvSpPr txBox="1"/>
          <p:nvPr/>
        </p:nvSpPr>
        <p:spPr>
          <a:xfrm>
            <a:off x="7178040" y="1417320"/>
            <a:ext cx="4465015" cy="4023360"/>
          </a:xfrm>
          <a:prstGeom prst="rect">
            <a:avLst/>
          </a:prstGeom>
          <a:noFill/>
          <a:ln/>
        </p:spPr>
        <p:txBody>
          <a:bodyPr wrap="square" lIns="0" tIns="0" rIns="0" bIns="0" rtlCol="0" anchor="t"/>
          <a:lstStyle/>
          <a:p>
            <a:pPr marL="457200" indent="-457200">
              <a:spcAft>
                <a:spcPts val="1400"/>
              </a:spcAft>
              <a:buSzPct val="100000"/>
              <a:buFont typeface="+mj-lt"/>
              <a:buAutoNum type="arabicPeriod" startAt="1"/>
            </a:pPr>
            <a:r>
              <a:rPr lang="en-US" sz="3200" dirty="0">
                <a:solidFill>
                  <a:schemeClr val="tx1"/>
                </a:solidFill>
              </a:rPr>
              <a:t>Search “hyponatremia”</a:t>
            </a:r>
            <a:endParaRPr lang="en-US" sz="3200" dirty="0"/>
          </a:p>
          <a:p>
            <a:pPr marL="457200" indent="-457200">
              <a:spcAft>
                <a:spcPts val="1400"/>
              </a:spcAft>
              <a:buSzPct val="100000"/>
              <a:buFont typeface="+mj-lt"/>
              <a:buAutoNum type="arabicPeriod" startAt="1"/>
            </a:pPr>
            <a:r>
              <a:rPr lang="en-US" sz="3200" dirty="0">
                <a:solidFill>
                  <a:schemeClr val="tx1"/>
                </a:solidFill>
              </a:rPr>
              <a:t>Search it again: instant</a:t>
            </a:r>
            <a:endParaRPr lang="en-US" sz="3200" dirty="0"/>
          </a:p>
          <a:p>
            <a:pPr marL="457200" indent="-457200">
              <a:spcAft>
                <a:spcPts val="1400"/>
              </a:spcAft>
              <a:buSzPct val="100000"/>
              <a:buFont typeface="+mj-lt"/>
              <a:buAutoNum type="arabicPeriod" startAt="1"/>
            </a:pPr>
            <a:r>
              <a:rPr lang="en-US" sz="3200" dirty="0">
                <a:solidFill>
                  <a:schemeClr val="tx1"/>
                </a:solidFill>
              </a:rPr>
              <a:t>Try “potassium 5.8 mmol/L”</a:t>
            </a:r>
            <a:endParaRPr lang="en-US" sz="3200" dirty="0"/>
          </a:p>
          <a:p>
            <a:pPr marL="457200" indent="-457200">
              <a:spcAft>
                <a:spcPts val="1400"/>
              </a:spcAft>
              <a:buSzPct val="100000"/>
              <a:buFont typeface="+mj-lt"/>
              <a:buAutoNum type="arabicPeriod" startAt="1"/>
            </a:pPr>
            <a:r>
              <a:rPr lang="en-US" sz="3200" dirty="0">
                <a:solidFill>
                  <a:schemeClr val="tx1"/>
                </a:solidFill>
              </a:rPr>
              <a:t>Check /api/health/ai</a:t>
            </a:r>
            <a:endParaRPr lang="en-US" sz="3200" dirty="0"/>
          </a:p>
        </p:txBody>
      </p:sp>
      <p:sp>
        <p:nvSpPr>
          <p:cNvPr id="5" name="Live site link"/>
          <p:cNvSpPr txBox="1"/>
          <p:nvPr/>
        </p:nvSpPr>
        <p:spPr>
          <a:xfrm>
            <a:off x="548640" y="5760720"/>
            <a:ext cx="11094415" cy="548640"/>
          </a:xfrm>
          <a:prstGeom prst="rect">
            <a:avLst/>
          </a:prstGeom>
          <a:noFill/>
          <a:ln/>
        </p:spPr>
        <p:txBody>
          <a:bodyPr wrap="square" lIns="0" tIns="0" rIns="0" bIns="0" rtlCol="0" anchor="ctr"/>
          <a:lstStyle/>
          <a:p>
            <a:pPr indent="0" marL="0">
              <a:buNone/>
            </a:pPr>
            <a:r>
              <a:rPr lang="en-US" sz="3200" u="sng" dirty="0">
                <a:solidFill>
                  <a:schemeClr val="accent1"/>
                </a:solidFill>
                <a:hlinkClick r:id="rId2" invalidUrl="" action="" tgtFrame="" tooltip="Open Plainly" history="1" highlightClick="0" endSnd="0">
                  <a:extLst>
                    <a:ext uri="{A12FA001-AC4F-418D-AE19-62706E023703}">
                      <ahyp:hlinkClr xmlns:ahyp="http://schemas.microsoft.com/office/drawing/2018/hyperlinkcolor" val="tx"/>
                    </a:ext>
                  </a:extLst>
                </a:hlinkClick>
              </a:rPr>
              <a:t>plainly-medical-explainer.kimtastico.workers.dev</a:t>
            </a:r>
            <a:endParaRPr lang="en-US" sz="3200" dirty="0"/>
          </a:p>
        </p:txBody>
      </p:sp>
    </p:spTree>
  </p:cSld>
  <p:clrMapOvr>
    <a:masterClrMapping/>
  </p:clrMapOvr>
</p:sld>
</file>

<file path=ppt/theme/theme1.xml><?xml version="1.0" encoding="utf-8"?>
<a:theme xmlns:a="http://schemas.openxmlformats.org/drawingml/2006/main" name="Plainly">
  <a:themeElements>
    <a:clrScheme name="Plainly">
      <a:dk1>
        <a:srgbClr val="1B2421"/>
      </a:dk1>
      <a:lt1>
        <a:srgbClr val="F7F8F6"/>
      </a:lt1>
      <a:dk2>
        <a:srgbClr val="4F5B57"/>
      </a:dk2>
      <a:lt2>
        <a:srgbClr val="DDE3E0"/>
      </a:lt2>
      <a:accent1>
        <a:srgbClr val="0F6B5C"/>
      </a:accent1>
      <a:accent2>
        <a:srgbClr val="B4532A"/>
      </a:accent2>
      <a:accent3>
        <a:srgbClr val="4F5B57"/>
      </a:accent3>
      <a:accent4>
        <a:srgbClr val="DDE3E0"/>
      </a:accent4>
      <a:accent5>
        <a:srgbClr val="0F6B5C"/>
      </a:accent5>
      <a:accent6>
        <a:srgbClr val="B4532A"/>
      </a:accent6>
      <a:hlink>
        <a:srgbClr val="0F6B5C"/>
      </a:hlink>
      <a:folHlink>
        <a:srgbClr val="0F6B5C"/>
      </a:folHlink>
    </a:clrScheme>
    <a:fontScheme name="Plainl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Plainly: medical words, explained</dc:title>
  <dc:subject>PptxGenJS Presentation</dc:subject>
  <dc:creator>PptxGenJS</dc:creator>
  <cp:lastModifiedBy>PptxGenJS</cp:lastModifiedBy>
  <cp:revision>1</cp:revision>
  <dcterms:created xsi:type="dcterms:W3CDTF">2026-10-30T01:27:40Z</dcterms:created>
  <dcterms:modified xsi:type="dcterms:W3CDTF">2026-10-30T01:27:40Z</dcterms:modified>
</cp:coreProperties>
</file>